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59" r:id="rId4"/>
    <p:sldId id="262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5AE8"/>
    <a:srgbClr val="DA76EE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5" autoAdjust="0"/>
    <p:restoredTop sz="94624" autoAdjust="0"/>
  </p:normalViewPr>
  <p:slideViewPr>
    <p:cSldViewPr snapToGrid="0" snapToObjects="1" showGuides="1">
      <p:cViewPr varScale="1">
        <p:scale>
          <a:sx n="59" d="100"/>
          <a:sy n="59" d="100"/>
        </p:scale>
        <p:origin x="848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48649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fld id="{D00CB24E-0658-45AF-BF6E-C2518D440E8F}" type="datetimeFigureOut">
              <a:rPr lang="en-US"/>
              <a:t>3/6/2026</a:t>
            </a:fld>
            <a:endParaRPr lang="en-US" dirty="0"/>
          </a:p>
        </p:txBody>
      </p:sp>
      <p:sp>
        <p:nvSpPr>
          <p:cNvPr id="104865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104865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4865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48653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smtClean="0">
                <a:latin typeface="Calibri" panose="020F0502020204030204" pitchFamily="34" charset="0"/>
              </a:defRPr>
            </a:lvl1pPr>
          </a:lstStyle>
          <a:p>
            <a:fld id="{D421A7DE-6EE8-4C79-B0FA-3BEEDD2A4B42}" type="slidenum">
              <a:rPr lang="en-US" altLang="en-US"/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48599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104860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fld id="{73757934-C012-48D7-9B8B-63D98ED79C81}" type="datetime1">
              <a:rPr lang="en-US"/>
              <a:t>3/6/2026</a:t>
            </a:fld>
            <a:endParaRPr lang="en-US" dirty="0"/>
          </a:p>
        </p:txBody>
      </p:sp>
      <p:sp>
        <p:nvSpPr>
          <p:cNvPr id="104860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4860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mtClean="0">
                <a:latin typeface="Calibri" panose="020F0502020204030204" pitchFamily="34" charset="0"/>
              </a:defRPr>
            </a:lvl1pPr>
          </a:lstStyle>
          <a:p>
            <a:fld id="{6ACDFD73-D50E-4A69-8E81-0A6D88E4CE64}" type="slidenum">
              <a:rPr lang="en-US" altLang="en-US"/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48577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fld id="{EAE7E046-66AF-4408-A0AF-235B660643BF}" type="datetime1">
              <a:rPr lang="en-US"/>
              <a:t>3/6/2026</a:t>
            </a:fld>
            <a:endParaRPr lang="en-US" dirty="0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mtClean="0">
                <a:latin typeface="Calibri" panose="020F0502020204030204" pitchFamily="34" charset="0"/>
              </a:defRPr>
            </a:lvl1pPr>
          </a:lstStyle>
          <a:p>
            <a:fld id="{6FDE00D0-F62A-48D2-BCE9-6D43FFF36F7A}" type="slidenum">
              <a:rPr lang="en-US" altLang="en-US"/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48624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48625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fld id="{589C7D65-19C7-421E-A302-6092C99EEB12}" type="datetime1">
              <a:rPr lang="en-US"/>
              <a:t>3/6/2026</a:t>
            </a:fld>
            <a:endParaRPr lang="en-US" dirty="0"/>
          </a:p>
        </p:txBody>
      </p:sp>
      <p:sp>
        <p:nvSpPr>
          <p:cNvPr id="104862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4862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mtClean="0">
                <a:latin typeface="Calibri" panose="020F0502020204030204" pitchFamily="34" charset="0"/>
              </a:defRPr>
            </a:lvl1pPr>
          </a:lstStyle>
          <a:p>
            <a:fld id="{BA22335B-C82D-4FCC-B0AF-B6FE61092889}" type="slidenum">
              <a:rPr lang="en-US" altLang="en-US"/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48629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48630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48631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fld id="{27D6B6E5-0DF2-482C-AE4E-4F067F872266}" type="datetime1">
              <a:rPr lang="en-US"/>
              <a:t>3/6/2026</a:t>
            </a:fld>
            <a:endParaRPr lang="en-US" dirty="0"/>
          </a:p>
        </p:txBody>
      </p:sp>
      <p:sp>
        <p:nvSpPr>
          <p:cNvPr id="1048632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48633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mtClean="0">
                <a:latin typeface="Calibri" panose="020F0502020204030204" pitchFamily="34" charset="0"/>
              </a:defRPr>
            </a:lvl1pPr>
          </a:lstStyle>
          <a:p>
            <a:fld id="{236C85CA-5F1A-4E89-A537-6F7059FA8845}" type="slidenum">
              <a:rPr lang="en-US" altLang="en-US"/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48635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48636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48637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48638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48639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fld id="{5FB54EAB-F888-423F-BF26-967F81239AAE}" type="datetime1">
              <a:rPr lang="en-US"/>
              <a:t>3/6/2026</a:t>
            </a:fld>
            <a:endParaRPr lang="en-US" dirty="0"/>
          </a:p>
        </p:txBody>
      </p:sp>
      <p:sp>
        <p:nvSpPr>
          <p:cNvPr id="1048640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48641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mtClean="0">
                <a:latin typeface="Calibri" panose="020F0502020204030204" pitchFamily="34" charset="0"/>
              </a:defRPr>
            </a:lvl1pPr>
          </a:lstStyle>
          <a:p>
            <a:fld id="{1F355593-4110-4466-8677-5DAC61904977}" type="slidenum">
              <a:rPr lang="en-US" altLang="en-US"/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48604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fld id="{224334AD-E4BA-4C98-97DF-934BAD5AD952}" type="datetime1">
              <a:rPr lang="en-US"/>
              <a:t>3/6/2026</a:t>
            </a:fld>
            <a:endParaRPr lang="en-US" dirty="0"/>
          </a:p>
        </p:txBody>
      </p:sp>
      <p:sp>
        <p:nvSpPr>
          <p:cNvPr id="1048605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4860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mtClean="0">
                <a:latin typeface="Calibri" panose="020F0502020204030204" pitchFamily="34" charset="0"/>
              </a:defRPr>
            </a:lvl1pPr>
          </a:lstStyle>
          <a:p>
            <a:fld id="{4464977D-37A2-4CEB-8748-293A5C72AA6E}" type="slidenum">
              <a:rPr lang="en-US" altLang="en-US"/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fld id="{7B29BCFE-84C2-4B76-A988-4BA5C14CA17A}" type="datetime1">
              <a:rPr lang="en-US"/>
              <a:t>3/6/2026</a:t>
            </a:fld>
            <a:endParaRPr lang="en-US" dirty="0"/>
          </a:p>
        </p:txBody>
      </p:sp>
      <p:sp>
        <p:nvSpPr>
          <p:cNvPr id="1048594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4859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mtClean="0">
                <a:latin typeface="Calibri" panose="020F0502020204030204" pitchFamily="34" charset="0"/>
              </a:defRPr>
            </a:lvl1pPr>
          </a:lstStyle>
          <a:p>
            <a:fld id="{81FBC7BD-5522-48B6-A2DC-A4CCB73223AD}" type="slidenum">
              <a:rPr lang="en-US" altLang="en-US"/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4864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4864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4864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fld id="{C109A21E-E7B9-4305-BBD8-BB9F69107CE7}" type="datetime1">
              <a:rPr lang="en-US"/>
              <a:t>3/6/2026</a:t>
            </a:fld>
            <a:endParaRPr lang="en-US" dirty="0"/>
          </a:p>
        </p:txBody>
      </p:sp>
      <p:sp>
        <p:nvSpPr>
          <p:cNvPr id="104864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4864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mtClean="0">
                <a:latin typeface="Calibri" panose="020F0502020204030204" pitchFamily="34" charset="0"/>
              </a:defRPr>
            </a:lvl1pPr>
          </a:lstStyle>
          <a:p>
            <a:fld id="{F2C4296F-31CF-4E74-82C5-398046D01F24}" type="slidenum">
              <a:rPr lang="en-US" altLang="en-US"/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4861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104861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4861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fld id="{8FF90969-D69D-4F4C-8964-35C50439DF7D}" type="datetime1">
              <a:rPr lang="en-US"/>
              <a:t>3/6/2026</a:t>
            </a:fld>
            <a:endParaRPr lang="en-US" dirty="0"/>
          </a:p>
        </p:txBody>
      </p:sp>
      <p:sp>
        <p:nvSpPr>
          <p:cNvPr id="104861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4861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mtClean="0">
                <a:latin typeface="Calibri" panose="020F0502020204030204" pitchFamily="34" charset="0"/>
              </a:defRPr>
            </a:lvl1pPr>
          </a:lstStyle>
          <a:p>
            <a:fld id="{D4979C85-1787-4E3D-98EA-C7A6D063762D}" type="slidenum">
              <a:rPr lang="en-US" altLang="en-US"/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48619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4862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fld id="{A04D866C-FD47-4889-9FAA-5D9ABF64E1FF}" type="datetime1">
              <a:rPr lang="en-US"/>
              <a:t>3/6/2026</a:t>
            </a:fld>
            <a:endParaRPr lang="en-US" dirty="0"/>
          </a:p>
        </p:txBody>
      </p:sp>
      <p:sp>
        <p:nvSpPr>
          <p:cNvPr id="104862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4862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mtClean="0">
                <a:latin typeface="Calibri" panose="020F0502020204030204" pitchFamily="34" charset="0"/>
              </a:defRPr>
            </a:lvl1pPr>
          </a:lstStyle>
          <a:p>
            <a:fld id="{1F9C5681-1D59-4A7B-8847-F9A342983DB7}" type="slidenum">
              <a:rPr lang="en-US" altLang="en-US"/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48608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48609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fld id="{6E123B4E-A137-4971-84F1-0ABEDEB1D985}" type="datetime1">
              <a:rPr lang="en-US"/>
              <a:t>3/6/2026</a:t>
            </a:fld>
            <a:endParaRPr lang="en-US" dirty="0"/>
          </a:p>
        </p:txBody>
      </p:sp>
      <p:sp>
        <p:nvSpPr>
          <p:cNvPr id="10486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486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mtClean="0">
                <a:latin typeface="Calibri" panose="020F0502020204030204" pitchFamily="34" charset="0"/>
              </a:defRPr>
            </a:lvl1pPr>
          </a:lstStyle>
          <a:p>
            <a:fld id="{60B7134E-F3BB-4E45-83CC-68E71D97DCD7}" type="slidenum">
              <a:rPr lang="en-US" altLang="en-US"/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7" descr="Chart  Description automatically generated with medium confidence"/>
          <p:cNvPicPr>
            <a:picLocks noChangeAspect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925155"/>
          </a:xfrm>
        </p:spPr>
        <p:txBody>
          <a:bodyPr lIns="91440" tIns="45720" rIns="91440" bIns="45720" anchor="t"/>
          <a:lstStyle/>
          <a:p>
            <a:pPr algn="ctr">
              <a:spcBef>
                <a:spcPts val="1000"/>
              </a:spcBef>
            </a:pPr>
            <a:r>
              <a:rPr lang="en-US" sz="2400" b="1" dirty="0">
                <a:latin typeface="Times New Roman" panose="02020603050405020304"/>
                <a:cs typeface="Times New Roman" panose="02020603050405020304"/>
              </a:rPr>
              <a:t>PROJECT BASED ASSIGNMENT</a:t>
            </a:r>
            <a:br>
              <a:rPr lang="en-US" sz="1800" b="1" dirty="0">
                <a:latin typeface="Times New Roman" panose="02020603050405020304"/>
                <a:cs typeface="Times New Roman" panose="02020603050405020304"/>
              </a:rPr>
            </a:br>
            <a:br>
              <a:rPr lang="en-US" sz="1800" b="1" dirty="0">
                <a:latin typeface="Times New Roman" panose="02020603050405020304"/>
                <a:cs typeface="Times New Roman" panose="02020603050405020304"/>
              </a:rPr>
            </a:br>
            <a:br>
              <a:rPr lang="en-US" sz="1800" b="1" dirty="0">
                <a:latin typeface="Times New Roman" panose="02020603050405020304"/>
                <a:cs typeface="Times New Roman" panose="02020603050405020304"/>
              </a:rPr>
            </a:br>
            <a:r>
              <a:rPr lang="en-US" sz="1800" b="1" dirty="0">
                <a:latin typeface="Times New Roman" panose="02020603050405020304"/>
                <a:cs typeface="Times New Roman" panose="02020603050405020304"/>
              </a:rPr>
              <a:t>III YEAR / II SEMESTER</a:t>
            </a:r>
            <a:endParaRPr lang="en-GB" sz="1800" dirty="0">
              <a:latin typeface="Times New Roman" panose="02020603050405020304"/>
              <a:cs typeface="Times New Roman" panose="02020603050405020304"/>
            </a:endParaRPr>
          </a:p>
          <a:p>
            <a:pPr algn="ctr">
              <a:spcBef>
                <a:spcPts val="1000"/>
              </a:spcBef>
            </a:pPr>
            <a:r>
              <a:rPr lang="en-US" sz="1800" b="1" dirty="0">
                <a:latin typeface="Times New Roman" panose="02020603050405020304"/>
                <a:cs typeface="Times New Roman" panose="02020603050405020304"/>
              </a:rPr>
              <a:t>ACADEMIC YEAR : 2025 –26</a:t>
            </a:r>
            <a:br>
              <a:rPr lang="en-US" sz="1800" b="1" dirty="0">
                <a:latin typeface="Times New Roman" panose="02020603050405020304"/>
                <a:cs typeface="Times New Roman" panose="02020603050405020304"/>
              </a:rPr>
            </a:br>
            <a:br>
              <a:rPr lang="en-US" sz="1800" b="1" dirty="0">
                <a:latin typeface="Times New Roman" panose="02020603050405020304"/>
                <a:cs typeface="Times New Roman" panose="02020603050405020304"/>
              </a:rPr>
            </a:br>
            <a:br>
              <a:rPr lang="en-US" sz="1800" b="1" dirty="0">
                <a:latin typeface="Times New Roman" panose="02020603050405020304"/>
                <a:cs typeface="Times New Roman" panose="02020603050405020304"/>
              </a:rPr>
            </a:br>
            <a:br>
              <a:rPr lang="en-US" sz="1800" b="1" dirty="0">
                <a:latin typeface="Times New Roman" panose="02020603050405020304"/>
                <a:cs typeface="Times New Roman" panose="02020603050405020304"/>
              </a:rPr>
            </a:br>
            <a:br>
              <a:rPr lang="en-US" sz="1800" b="1" dirty="0">
                <a:latin typeface="Times New Roman" panose="02020603050405020304"/>
                <a:cs typeface="Times New Roman" panose="02020603050405020304"/>
              </a:rPr>
            </a:br>
            <a:endParaRPr lang="en-GB" sz="1800" dirty="0">
              <a:latin typeface="Times New Roman" panose="02020603050405020304"/>
              <a:cs typeface="Times New Roman" panose="02020603050405020304"/>
            </a:endParaRPr>
          </a:p>
          <a:p>
            <a:endParaRPr lang="en-GB" sz="1800" dirty="0">
              <a:latin typeface="Times New Roman" panose="02020603050405020304"/>
              <a:cs typeface="Calibri Light" panose="020F0302020204030204"/>
            </a:endParaRPr>
          </a:p>
        </p:txBody>
      </p:sp>
      <p:sp>
        <p:nvSpPr>
          <p:cNvPr id="1048582" name="Content Placeholder 2"/>
          <p:cNvSpPr>
            <a:spLocks noGrp="1"/>
          </p:cNvSpPr>
          <p:nvPr>
            <p:ph idx="1"/>
          </p:nvPr>
        </p:nvSpPr>
        <p:spPr>
          <a:xfrm>
            <a:off x="838200" y="1904746"/>
            <a:ext cx="10515600" cy="4351338"/>
          </a:xfrm>
        </p:spPr>
        <p:txBody>
          <a:bodyPr lIns="91440" tIns="45720" rIns="91440" bIns="45720" anchor="t"/>
          <a:lstStyle/>
          <a:p>
            <a:pPr marL="0" indent="0" algn="ctr">
              <a:buNone/>
            </a:pPr>
            <a:r>
              <a:rPr lang="en-US" sz="1800" b="1" dirty="0">
                <a:latin typeface="Times New Roman" panose="02020603050405020304"/>
                <a:cs typeface="Times New Roman" panose="02020603050405020304"/>
              </a:rPr>
              <a:t>Group Number: 23</a:t>
            </a:r>
            <a:endParaRPr lang="en-US" sz="1800" dirty="0">
              <a:latin typeface="Times New Roman" panose="02020603050405020304"/>
              <a:cs typeface="Calibri" panose="020F0502020204030204"/>
            </a:endParaRPr>
          </a:p>
          <a:p>
            <a:pPr marL="0" indent="0" algn="ctr">
              <a:buNone/>
            </a:pPr>
            <a:r>
              <a:rPr lang="en-US" sz="1800" b="1" dirty="0">
                <a:latin typeface="Times New Roman" panose="02020603050405020304"/>
                <a:cs typeface="Times New Roman" panose="02020603050405020304"/>
              </a:rPr>
              <a:t>PROJECT TITLE – 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Estimating Parameters using Least Squares Estimation for Marketing Spend vs Revenue Model</a:t>
            </a:r>
            <a:endParaRPr lang="en-US" alt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800" b="1" dirty="0">
                <a:latin typeface="Times New Roman" panose="02020603050405020304"/>
                <a:cs typeface="Times New Roman" panose="02020603050405020304"/>
              </a:rPr>
              <a:t>By</a:t>
            </a:r>
            <a:endParaRPr lang="en-GB" sz="1800" dirty="0">
              <a:latin typeface="Times New Roman" panose="02020603050405020304"/>
              <a:cs typeface="Times New Roman" panose="02020603050405020304"/>
            </a:endParaRPr>
          </a:p>
          <a:p>
            <a:pPr marL="0" indent="0" algn="ctr">
              <a:buNone/>
            </a:pPr>
            <a:r>
              <a:rPr lang="en-IN" sz="1800" b="1" dirty="0">
                <a:latin typeface="Times New Roman" panose="02020603050405020304"/>
                <a:cs typeface="Times New Roman" panose="02020603050405020304"/>
              </a:rPr>
              <a:t> Ramaraju Snigdha - 23QM1A6699</a:t>
            </a:r>
            <a:endParaRPr lang="en-GB" sz="1800" b="1" dirty="0">
              <a:latin typeface="Times New Roman" panose="02020603050405020304"/>
              <a:cs typeface="Times New Roman" panose="02020603050405020304"/>
            </a:endParaRPr>
          </a:p>
          <a:p>
            <a:pPr marL="0" indent="0" algn="ctr">
              <a:buNone/>
            </a:pPr>
            <a:r>
              <a:rPr lang="en-IN" sz="1800" b="1" dirty="0">
                <a:latin typeface="Times New Roman" panose="02020603050405020304"/>
                <a:cs typeface="Times New Roman" panose="02020603050405020304"/>
              </a:rPr>
              <a:t>Sanga Pragathi- 23QM1A66A7</a:t>
            </a:r>
            <a:endParaRPr lang="en-GB" sz="1800" b="1" dirty="0">
              <a:latin typeface="Times New Roman" panose="02020603050405020304"/>
              <a:cs typeface="Times New Roman" panose="02020603050405020304"/>
            </a:endParaRPr>
          </a:p>
          <a:p>
            <a:pPr marL="0" indent="0" algn="ctr">
              <a:buNone/>
            </a:pPr>
            <a:r>
              <a:rPr lang="en-IN" sz="1800" b="1" dirty="0">
                <a:latin typeface="Times New Roman" panose="02020603050405020304"/>
                <a:cs typeface="Times New Roman" panose="02020603050405020304"/>
              </a:rPr>
              <a:t>Vansh Kumar Chaudhary - 23QM1A66C2</a:t>
            </a:r>
          </a:p>
          <a:p>
            <a:pPr marL="0" indent="0" algn="ctr">
              <a:buNone/>
            </a:pPr>
            <a:endParaRPr lang="en-GB" sz="1800" b="1" dirty="0">
              <a:latin typeface="Times New Roman" panose="02020603050405020304"/>
              <a:cs typeface="Times New Roman" panose="02020603050405020304"/>
            </a:endParaRPr>
          </a:p>
          <a:p>
            <a:pPr marL="0" indent="0" algn="ctr">
              <a:buNone/>
            </a:pPr>
            <a:r>
              <a:rPr lang="en-US" sz="1800" b="1" dirty="0">
                <a:latin typeface="Times New Roman" panose="02020603050405020304"/>
                <a:cs typeface="Times New Roman" panose="02020603050405020304"/>
              </a:rPr>
              <a:t>DEPARTMENT OF COMPUTER SCIENCE AND ENGINEERING (AI &amp; ML)</a:t>
            </a:r>
            <a:endParaRPr lang="en-GB" sz="1800" dirty="0">
              <a:latin typeface="Times New Roman" panose="02020603050405020304"/>
              <a:cs typeface="Times New Roman" panose="02020603050405020304"/>
            </a:endParaRPr>
          </a:p>
          <a:p>
            <a:pPr marL="0" indent="0" algn="ctr">
              <a:buNone/>
            </a:pPr>
            <a:r>
              <a:rPr lang="en-US" sz="1800" b="1" dirty="0">
                <a:latin typeface="Times New Roman" panose="02020603050405020304"/>
                <a:cs typeface="Times New Roman" panose="02020603050405020304"/>
              </a:rPr>
              <a:t>KG REDDY COLLEGE OF ENGINEERING AND TECHNOLOGY</a:t>
            </a:r>
            <a:endParaRPr lang="en-GB" sz="1800" dirty="0">
              <a:latin typeface="Times New Roman" panose="02020603050405020304"/>
              <a:cs typeface="Times New Roman" panose="02020603050405020304"/>
            </a:endParaRPr>
          </a:p>
          <a:p>
            <a:pPr marL="0" indent="0" algn="ctr">
              <a:buNone/>
            </a:pPr>
            <a:r>
              <a:rPr lang="en-US" sz="1800" b="1" dirty="0">
                <a:solidFill>
                  <a:srgbClr val="202124"/>
                </a:solidFill>
                <a:latin typeface="Times New Roman" panose="02020603050405020304"/>
                <a:cs typeface="Times New Roman" panose="02020603050405020304"/>
              </a:rPr>
              <a:t>Moinabad, Hyderabad, Telangana 500075</a:t>
            </a:r>
            <a:endParaRPr lang="en-GB" sz="1800" dirty="0">
              <a:solidFill>
                <a:srgbClr val="202124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0" indent="0" algn="ctr">
              <a:buNone/>
            </a:pPr>
            <a:endParaRPr lang="en-GB" sz="1800" dirty="0">
              <a:solidFill>
                <a:srgbClr val="202124"/>
              </a:solidFill>
              <a:latin typeface="Times New Roman" panose="02020603050405020304"/>
              <a:cs typeface="Times New Roman" panose="02020603050405020304"/>
            </a:endParaRPr>
          </a:p>
          <a:p>
            <a:endParaRPr lang="en-GB" sz="1800" dirty="0">
              <a:latin typeface="Times New Roman" panose="02020603050405020304"/>
              <a:cs typeface="Calibri" panose="020F0502020204030204"/>
            </a:endParaRPr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E00D0-F62A-48D2-BCE9-6D43FFF36F7A}" type="slidenum">
              <a:rPr lang="en-US" altLang="en-US"/>
              <a:t>1</a:t>
            </a:fld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Title 1"/>
          <p:cNvSpPr>
            <a:spLocks noGrp="1"/>
          </p:cNvSpPr>
          <p:nvPr>
            <p:ph type="title"/>
          </p:nvPr>
        </p:nvSpPr>
        <p:spPr>
          <a:xfrm>
            <a:off x="1030605" y="365125"/>
            <a:ext cx="10323195" cy="574675"/>
          </a:xfr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</a:p>
        </p:txBody>
      </p:sp>
      <p:sp>
        <p:nvSpPr>
          <p:cNvPr id="1048585" name="Content Placeholder 2"/>
          <p:cNvSpPr>
            <a:spLocks noGrp="1"/>
          </p:cNvSpPr>
          <p:nvPr>
            <p:ph idx="1"/>
          </p:nvPr>
        </p:nvSpPr>
        <p:spPr>
          <a:xfrm>
            <a:off x="1030605" y="1238250"/>
            <a:ext cx="10323195" cy="4939030"/>
          </a:xfrm>
        </p:spPr>
        <p:txBody>
          <a:bodyPr/>
          <a:lstStyle/>
          <a:p>
            <a:pPr marL="0" indent="0" algn="r">
              <a:buNone/>
            </a:pPr>
            <a:endParaRPr lang="en-US" altLang="en-US" dirty="0"/>
          </a:p>
          <a:p>
            <a:pPr marL="0" indent="0" algn="r">
              <a:buNone/>
            </a:pPr>
            <a:endParaRPr lang="en-US" altLang="en-US" dirty="0"/>
          </a:p>
          <a:p>
            <a:pPr marL="0" indent="0" algn="ctr">
              <a:buNone/>
            </a:pPr>
            <a:endParaRPr lang="en-US" altLang="en-US" dirty="0"/>
          </a:p>
          <a:p>
            <a:pPr marL="0" indent="0" algn="ctr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Estimating Parameters using Least Squares Estimation for Marketing Spend vs Revenue Model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8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E00D0-F62A-48D2-BCE9-6D43FFF36F7A}" type="slidenum">
              <a:rPr lang="en-US" altLang="en-US"/>
              <a:t>2</a:t>
            </a:fld>
            <a:endParaRPr lang="en-US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IN" sz="32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sz="3200" b="1" dirty="0">
                <a:latin typeface="Times New Roman" panose="02020603050405020304"/>
                <a:cs typeface="Times New Roman" panose="02020603050405020304"/>
              </a:rPr>
              <a:t>PROJECT OVERVIEW</a:t>
            </a:r>
          </a:p>
        </p:txBody>
      </p:sp>
      <p:sp>
        <p:nvSpPr>
          <p:cNvPr id="104858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E00D0-F62A-48D2-BCE9-6D43FFF36F7A}" type="slidenum">
              <a:rPr lang="en-US" altLang="en-US" smtClean="0"/>
              <a:t>3</a:t>
            </a:fld>
            <a:endParaRPr lang="en-US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67C51D6-4B5F-FFB5-B9A4-E631A9EE60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68829" y="1102177"/>
            <a:ext cx="7935686" cy="4653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Marketing plays a crucial role in increasing product visibility and sales in modern businesses.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invest significant budgets in marketing campaigns such as digital advertising, promotions, and social media marketing.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relationship between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marketing expenditure and generated revenue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essential for effective decision-making.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applies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Least Squares Estimation (LSE)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build a regression model that explains how marketing spend influences revenue.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model helps in analyzing trends and predicting expected revenue based on marketing investment.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89ABF-AC5D-3C7B-FEA5-FFFE6D2FE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Title 1">
            <a:extLst>
              <a:ext uri="{FF2B5EF4-FFF2-40B4-BE49-F238E27FC236}">
                <a16:creationId xmlns:a16="http://schemas.microsoft.com/office/drawing/2014/main" id="{F6A5E127-FA7F-5C80-EA22-15FC2FAE0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IN" sz="32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sz="3200" b="1" dirty="0">
                <a:latin typeface="Times New Roman" panose="02020603050405020304"/>
                <a:cs typeface="Times New Roman" panose="02020603050405020304"/>
              </a:rPr>
              <a:t>PROBLEM STATEMENT</a:t>
            </a:r>
          </a:p>
        </p:txBody>
      </p:sp>
      <p:sp>
        <p:nvSpPr>
          <p:cNvPr id="1048589" name="Slide Number Placeholder 3">
            <a:extLst>
              <a:ext uri="{FF2B5EF4-FFF2-40B4-BE49-F238E27FC236}">
                <a16:creationId xmlns:a16="http://schemas.microsoft.com/office/drawing/2014/main" id="{B23B2AF4-7440-2C65-BB7A-3B69FCD3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E00D0-F62A-48D2-BCE9-6D43FFF36F7A}" type="slidenum">
              <a:rPr lang="en-US" altLang="en-US" smtClean="0"/>
              <a:t>4</a:t>
            </a:fld>
            <a:endParaRPr lang="en-US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2CBE32-00EA-6CF7-F3E3-B5CEACE2AB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102177"/>
            <a:ext cx="10515600" cy="4653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Businesses spend large amounts on marketing activities but often lack clear analytical methods to evaluate the impact of these investments.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Without proper models, it becomes difficult to determine how marketing expenditure contributes to revenue growth.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analysis of marketing and sales data may lead to inaccurate conclusions and inefficient decision-making.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approach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that can accurately model the relationship between marketing spend and revenue.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Applying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Least Squares Estimation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helps in identifying the best fitting relationship between these variables and provides insights for strategic planning.</a:t>
            </a:r>
          </a:p>
        </p:txBody>
      </p:sp>
    </p:spTree>
    <p:extLst>
      <p:ext uri="{BB962C8B-B14F-4D97-AF65-F5344CB8AC3E}">
        <p14:creationId xmlns:p14="http://schemas.microsoft.com/office/powerpoint/2010/main" val="2550973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 OF SOLUTION:</a:t>
            </a:r>
          </a:p>
        </p:txBody>
      </p:sp>
      <p:sp>
        <p:nvSpPr>
          <p:cNvPr id="104859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E00D0-F62A-48D2-BCE9-6D43FFF36F7A}" type="slidenum">
              <a:rPr lang="en-US" altLang="en-US" smtClean="0"/>
              <a:t>5</a:t>
            </a:fld>
            <a:endParaRPr lang="en-US" altLang="en-US" dirty="0"/>
          </a:p>
        </p:txBody>
      </p:sp>
      <p:sp>
        <p:nvSpPr>
          <p:cNvPr id="1048592" name="Content Placeholder 2"/>
          <p:cNvSpPr>
            <a:spLocks noGrp="1"/>
          </p:cNvSpPr>
          <p:nvPr>
            <p:ph idx="1"/>
          </p:nvPr>
        </p:nvSpPr>
        <p:spPr>
          <a:xfrm>
            <a:off x="762000" y="1158240"/>
            <a:ext cx="11190514" cy="5380672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solution uses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 model based on Least Squares Estimation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analyze the relationship between marketing spend and revenue.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involved: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Input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 dataset containing marketing expenditure and corresponding revenue values.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Representation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 the relationship using a linear equation: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= a + b × (Marketing Spend)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 Estimation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Least Squares method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estimate the optimal values of parameters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(intercept) and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(slope).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 the dataset and regression line to visualize the relationship between marketing spend and revenue.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 trained model to estimate future revenue based on marketing investment</a:t>
            </a:r>
            <a:r>
              <a:rPr lang="en-US" sz="1800"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BC7BD-5522-48B6-A2DC-A4CCB73223AD}" type="slidenum">
              <a:rPr lang="en-US" altLang="en-US" smtClean="0"/>
              <a:t>6</a:t>
            </a:fld>
            <a:endParaRPr lang="en-US" altLang="en-US" dirty="0"/>
          </a:p>
        </p:txBody>
      </p:sp>
      <p:sp>
        <p:nvSpPr>
          <p:cNvPr id="1048597" name="Rectangle 2"/>
          <p:cNvSpPr/>
          <p:nvPr/>
        </p:nvSpPr>
        <p:spPr>
          <a:xfrm>
            <a:off x="3048474" y="2744708"/>
            <a:ext cx="5752723" cy="12852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410</Words>
  <Application>Microsoft Office PowerPoint</Application>
  <PresentationFormat>Widescreen</PresentationFormat>
  <Paragraphs>45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PROJECT BASED ASSIGNMENT   III YEAR / II SEMESTER ACADEMIC YEAR : 2025 –26      </vt:lpstr>
      <vt:lpstr>TITLE:</vt:lpstr>
      <vt:lpstr> PROJECT OVERVIEW</vt:lpstr>
      <vt:lpstr> PROBLEM STATEMENT</vt:lpstr>
      <vt:lpstr>IDEA OF SOLUTION: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Minu Goswami</dc:creator>
  <cp:lastModifiedBy>SNIGDHA RAMARAJU</cp:lastModifiedBy>
  <cp:revision>1</cp:revision>
  <dcterms:created xsi:type="dcterms:W3CDTF">2021-06-30T23:40:00Z</dcterms:created>
  <dcterms:modified xsi:type="dcterms:W3CDTF">2026-03-06T15:09:05Z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d98ca0d85f11460b9023d25ebee4efd8</vt:lpwstr>
  </property>
  <property fmtid="{D5CDD505-2E9C-101B-9397-08002B2CF9AE}" pid="3" name="KSOProductBuildVer">
    <vt:lpwstr>1033-12.2.0.21931</vt:lpwstr>
  </property>
</Properties>
</file>